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703CF1-7A01-49BC-FAD2-00C904A00354}" v="11" dt="2025-06-21T20:48:46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87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3793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22064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5236634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52981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25626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17880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06568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35728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69114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12782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0301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089500-680F-E122-AEE8-148087B32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3297482"/>
          </a:xfrm>
        </p:spPr>
        <p:txBody>
          <a:bodyPr/>
          <a:lstStyle/>
          <a:p>
            <a:r>
              <a:rPr lang="pl-PL" noProof="0" dirty="0"/>
              <a:t>Systemy Cyfrowe -  Projekt  Podsumowanie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D0AACB0-252B-6611-C834-C2255FA63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153711"/>
            <a:ext cx="9418320" cy="2338529"/>
          </a:xfrm>
        </p:spPr>
        <p:txBody>
          <a:bodyPr/>
          <a:lstStyle/>
          <a:p>
            <a:r>
              <a:rPr lang="pl-PL" noProof="0" dirty="0"/>
              <a:t>Zespół projektowy nr. 7</a:t>
            </a:r>
          </a:p>
          <a:p>
            <a:r>
              <a:rPr lang="pl-PL" noProof="0" dirty="0"/>
              <a:t>- Szymon </a:t>
            </a:r>
            <a:r>
              <a:rPr lang="pl-PL" noProof="0" dirty="0" err="1"/>
              <a:t>Boniuk</a:t>
            </a:r>
            <a:br>
              <a:rPr lang="pl-PL" noProof="0" dirty="0"/>
            </a:br>
            <a:r>
              <a:rPr lang="pl-PL" noProof="0" dirty="0"/>
              <a:t>- Adam Witczak</a:t>
            </a:r>
            <a:br>
              <a:rPr lang="pl-PL" noProof="0" dirty="0"/>
            </a:br>
            <a:r>
              <a:rPr lang="pl-PL" noProof="0" dirty="0"/>
              <a:t>- Piotr Świtaj</a:t>
            </a:r>
            <a:br>
              <a:rPr lang="pl-PL" noProof="0" dirty="0"/>
            </a:br>
            <a:r>
              <a:rPr lang="pl-PL" noProof="0" dirty="0"/>
              <a:t>- Jakub Celiński</a:t>
            </a:r>
            <a:br>
              <a:rPr lang="pl-PL" noProof="0" dirty="0"/>
            </a:br>
            <a:r>
              <a:rPr lang="pl-PL" noProof="0" dirty="0"/>
              <a:t>- Bartosz Skrzypczak</a:t>
            </a:r>
          </a:p>
        </p:txBody>
      </p:sp>
    </p:spTree>
    <p:extLst>
      <p:ext uri="{BB962C8B-B14F-4D97-AF65-F5344CB8AC3E}">
        <p14:creationId xmlns:p14="http://schemas.microsoft.com/office/powerpoint/2010/main" val="459163230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5C44BC-E91D-DC9B-0237-F9A3F4ED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834" y="260101"/>
            <a:ext cx="3349038" cy="694555"/>
          </a:xfrm>
        </p:spPr>
        <p:txBody>
          <a:bodyPr>
            <a:normAutofit fontScale="90000"/>
          </a:bodyPr>
          <a:lstStyle/>
          <a:p>
            <a:r>
              <a:rPr lang="pl-PL" noProof="0" dirty="0"/>
              <a:t>Cel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6C7636-30C1-FE3F-9189-0E59AE103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41" y="1049050"/>
            <a:ext cx="10706868" cy="1188312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/>
              <a:t>Zaprojektowanie i realizacja systemu sprzętowo-programowego, który pozwoli w jak najkrótszym czasie i jak najdokładniej przebadać próbkę sygnału odebranego z łazika marsjańskiego w celu wykrycia zakresu fal, na których odbywa się transmisja.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2E4C5EC-2995-26DC-58EC-3E85A8F68C3A}"/>
              </a:ext>
            </a:extLst>
          </p:cNvPr>
          <p:cNvSpPr txBox="1"/>
          <p:nvPr/>
        </p:nvSpPr>
        <p:spPr>
          <a:xfrm>
            <a:off x="5132803" y="2551837"/>
            <a:ext cx="57038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noProof="0" dirty="0"/>
              <a:t>Dostarczone materiały: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Sygnał signalNoise8.wav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Sygnał signalNoise8_10.wav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Sygnał signalNoise8_100.wav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Plik signalSample.txt zawierający gotowe próbki sygnału do przetworzenia na FPGA</a:t>
            </a:r>
          </a:p>
        </p:txBody>
      </p:sp>
      <p:pic>
        <p:nvPicPr>
          <p:cNvPr id="1026" name="Picture 2" descr="Obraz zawierający opona, na wolnym powietrzu, ziemia, koł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42F637A-9CB7-2DA3-FD5D-D2D2F9CC9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54" y="3421254"/>
            <a:ext cx="4244793" cy="238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765598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C58AA7-7C4C-AD98-BE19-79DF7AC7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193"/>
            <a:ext cx="4852555" cy="791110"/>
          </a:xfrm>
        </p:spPr>
        <p:txBody>
          <a:bodyPr>
            <a:normAutofit/>
          </a:bodyPr>
          <a:lstStyle/>
          <a:p>
            <a:r>
              <a:rPr lang="pl-PL" noProof="0" dirty="0"/>
              <a:t>Prototypy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F554F86-912D-0005-EB86-2E85609BD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3305"/>
            <a:ext cx="4987973" cy="29561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noProof="0" dirty="0"/>
              <a:t>Na wczesnym etapie projektowania napisaliśmy referencyjny kod w języku </a:t>
            </a:r>
            <a:r>
              <a:rPr lang="pl-PL" noProof="0" dirty="0" err="1"/>
              <a:t>Python</a:t>
            </a:r>
            <a:r>
              <a:rPr lang="pl-PL" noProof="0" dirty="0"/>
              <a:t>, który generował losowy sygnał testowy o 2 składowych, zapisywał go do pliku, a następnie analizował. Przetestowaliśmy w ten sposób ręczną implementację FFT. </a:t>
            </a:r>
          </a:p>
          <a:p>
            <a:pPr marL="0" indent="0">
              <a:buNone/>
            </a:pPr>
            <a:r>
              <a:rPr lang="pl-PL" noProof="0" dirty="0"/>
              <a:t>W celu dodatkowej weryfikacji poprawności działania powstał kod sprawdzający w </a:t>
            </a:r>
            <a:r>
              <a:rPr lang="pl-PL" noProof="0" dirty="0" err="1"/>
              <a:t>Matlab</a:t>
            </a:r>
            <a:r>
              <a:rPr lang="pl-PL" noProof="0" dirty="0"/>
              <a:t>, oraz posiłkowaliśmy się gotowym analizatorem widma dostępnym online.</a:t>
            </a:r>
          </a:p>
          <a:p>
            <a:pPr marL="0" indent="0">
              <a:buNone/>
            </a:pPr>
            <a:endParaRPr lang="pl-PL" noProof="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AE0D076-31A7-9662-20DF-C5B68938E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136" y="312802"/>
            <a:ext cx="5206939" cy="2956179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69A90B1-FB1A-DAB6-554E-19B0345DF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136" y="3678382"/>
            <a:ext cx="5502246" cy="261356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DACBD2E-3E40-7620-A5FF-CF428D1F3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76" y="4000500"/>
            <a:ext cx="4987973" cy="261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6133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87D0DF-DAFF-CC61-65C4-CDACA7DF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26" y="349322"/>
            <a:ext cx="4962212" cy="1868529"/>
          </a:xfrm>
        </p:spPr>
        <p:txBody>
          <a:bodyPr>
            <a:normAutofit fontScale="90000"/>
          </a:bodyPr>
          <a:lstStyle/>
          <a:p>
            <a:r>
              <a:rPr lang="pl-PL" noProof="0" dirty="0"/>
              <a:t>Finalna implementacja – </a:t>
            </a:r>
            <a:r>
              <a:rPr lang="pl-PL" noProof="0" dirty="0" err="1"/>
              <a:t>Python</a:t>
            </a:r>
            <a:endParaRPr lang="pl-PL" noProof="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C679C40-AF71-6769-2D72-C8BEA769F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39" y="2558265"/>
            <a:ext cx="4162883" cy="25171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noProof="0" dirty="0"/>
              <a:t>Na podstawie kodów prototypowych powstał finalny kod implementujący ręcznie napisaną FFT, przetwarzanie wybranego pliku wejściowego oraz wyświetlanie widma z wyznaczonymi częstotliwościami transmisji.</a:t>
            </a:r>
          </a:p>
        </p:txBody>
      </p:sp>
      <p:pic>
        <p:nvPicPr>
          <p:cNvPr id="5" name="Obraz 4" descr="Obraz zawierający zrzut ekranu&#10;&#10;Zawartość wygenerowana przez AI może być niepoprawna.">
            <a:extLst>
              <a:ext uri="{FF2B5EF4-FFF2-40B4-BE49-F238E27FC236}">
                <a16:creationId xmlns:a16="http://schemas.microsoft.com/office/drawing/2014/main" id="{0A41C88E-828D-92B8-D5BE-DDE32A121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517" y="1528875"/>
            <a:ext cx="7304925" cy="38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59755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EABF7B-6E14-527A-129E-0D9C9AEA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51" y="365761"/>
            <a:ext cx="10584861" cy="772376"/>
          </a:xfrm>
        </p:spPr>
        <p:txBody>
          <a:bodyPr/>
          <a:lstStyle/>
          <a:p>
            <a:r>
              <a:rPr lang="pl-PL" noProof="0" dirty="0"/>
              <a:t>Przejście na </a:t>
            </a:r>
            <a:r>
              <a:rPr lang="pl-PL" noProof="0" dirty="0" err="1"/>
              <a:t>SystemVerilog</a:t>
            </a:r>
            <a:r>
              <a:rPr lang="pl-PL" noProof="0" dirty="0"/>
              <a:t> (FPGA)</a:t>
            </a:r>
          </a:p>
        </p:txBody>
      </p:sp>
      <p:pic>
        <p:nvPicPr>
          <p:cNvPr id="5" name="Symbol zastępczy zawartości 4" descr="Obraz zawierający tekst, zrzut ekranu, diagram, Plan&#10;&#10;Zawartość wygenerowana przez AI może być niepoprawna.">
            <a:extLst>
              <a:ext uri="{FF2B5EF4-FFF2-40B4-BE49-F238E27FC236}">
                <a16:creationId xmlns:a16="http://schemas.microsoft.com/office/drawing/2014/main" id="{88136F78-3B78-D23A-0802-EA24DDD42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226" y="2610198"/>
            <a:ext cx="7741894" cy="4004813"/>
          </a:xfr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2B7D0F4-88BA-AD88-633E-0C4BF5B2B750}"/>
              </a:ext>
            </a:extLst>
          </p:cNvPr>
          <p:cNvSpPr txBox="1"/>
          <p:nvPr/>
        </p:nvSpPr>
        <p:spPr>
          <a:xfrm>
            <a:off x="369651" y="1332689"/>
            <a:ext cx="10107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noProof="0" dirty="0"/>
              <a:t>Wykreowaliśmy schemat blokowy projektu zawierający niezbędne moduły i przepływ danych/relacje między blokami.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AFE049E-504B-1058-3549-FC0AEA9D6BD2}"/>
              </a:ext>
            </a:extLst>
          </p:cNvPr>
          <p:cNvSpPr txBox="1"/>
          <p:nvPr/>
        </p:nvSpPr>
        <p:spPr>
          <a:xfrm>
            <a:off x="282102" y="2384468"/>
            <a:ext cx="28988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noProof="0" dirty="0"/>
              <a:t>Cały system składa się z 6 osobnych bloków: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rom_input.sv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twiddle_rom.sv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fft_tb.sv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fft_4096.sv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butterfly.sv</a:t>
            </a:r>
          </a:p>
          <a:p>
            <a:pPr marL="285750" indent="-285750">
              <a:buFontTx/>
              <a:buChar char="-"/>
            </a:pPr>
            <a:r>
              <a:rPr lang="pl-PL" noProof="0" dirty="0"/>
              <a:t>ram_4096.sv</a:t>
            </a:r>
          </a:p>
        </p:txBody>
      </p:sp>
    </p:spTree>
    <p:extLst>
      <p:ext uri="{BB962C8B-B14F-4D97-AF65-F5344CB8AC3E}">
        <p14:creationId xmlns:p14="http://schemas.microsoft.com/office/powerpoint/2010/main" val="1233429184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CD9BEC-ADAF-AEE7-859E-32EDF22E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698" y="134242"/>
            <a:ext cx="2626468" cy="548640"/>
          </a:xfrm>
        </p:spPr>
        <p:txBody>
          <a:bodyPr>
            <a:normAutofit/>
          </a:bodyPr>
          <a:lstStyle/>
          <a:p>
            <a:r>
              <a:rPr lang="pl-PL" sz="3200" noProof="0" dirty="0"/>
              <a:t>rom_input.sv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072858-F006-4DE5-0312-60BDE0D4D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21" y="692609"/>
            <a:ext cx="5564221" cy="1817127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/>
              <a:t>Zawiera próbki z pliku signalSample.txt przekonwertowane do formatu Q1.15. Ponadto liczba próbek została rozszerzona do ilości 4096. Dane są 32-bitowe (16 bitów dla części rzeczywistej i 16 bitów dla części urojonej). Część urojona ma zawsze wartość 0.</a:t>
            </a:r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95716F4F-82F2-32F1-6A36-8C25C8AE5845}"/>
              </a:ext>
            </a:extLst>
          </p:cNvPr>
          <p:cNvSpPr txBox="1">
            <a:spLocks/>
          </p:cNvSpPr>
          <p:nvPr/>
        </p:nvSpPr>
        <p:spPr>
          <a:xfrm>
            <a:off x="6906636" y="134242"/>
            <a:ext cx="3035032" cy="5486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200" noProof="0" dirty="0"/>
              <a:t>twiddle_rom.sv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ymbol zastępczy zawartości 2">
                <a:extLst>
                  <a:ext uri="{FF2B5EF4-FFF2-40B4-BE49-F238E27FC236}">
                    <a16:creationId xmlns:a16="http://schemas.microsoft.com/office/drawing/2014/main" id="{626032F4-ED69-AE23-7094-1669AF4D7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42042" y="682882"/>
                <a:ext cx="5564221" cy="18268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pl-PL" noProof="0" dirty="0"/>
                  <a:t>Zawiera gotowe </a:t>
                </a:r>
                <a:r>
                  <a:rPr lang="pl-PL" noProof="0" dirty="0" err="1"/>
                  <a:t>preobliczone</a:t>
                </a:r>
                <a:r>
                  <a:rPr lang="pl-PL" noProof="0" dirty="0"/>
                  <a:t> współczynniki </a:t>
                </a:r>
                <a:r>
                  <a:rPr lang="pl-PL" noProof="0" dirty="0" err="1"/>
                  <a:t>twiddle</a:t>
                </a:r>
                <a:r>
                  <a:rPr lang="pl-PL" noProof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b="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l-PL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l-PL" b="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l-PL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l-PL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l-PL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pl-PL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pl-PL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pl-PL" noProof="0" dirty="0"/>
                  <a:t> zapisane w postaci Q1.15. Dane są 32-bitowe (16 bitów dla części rzeczywistej i 16 bitów dla części urojonej). Dla FFT 4096 potrzebne są 2048 unikalnych współczynników.</a:t>
                </a:r>
              </a:p>
            </p:txBody>
          </p:sp>
        </mc:Choice>
        <mc:Fallback xmlns="">
          <p:sp>
            <p:nvSpPr>
              <p:cNvPr id="6" name="Symbol zastępczy zawartości 2">
                <a:extLst>
                  <a:ext uri="{FF2B5EF4-FFF2-40B4-BE49-F238E27FC236}">
                    <a16:creationId xmlns:a16="http://schemas.microsoft.com/office/drawing/2014/main" id="{626032F4-ED69-AE23-7094-1669AF4D7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042" y="682882"/>
                <a:ext cx="5564221" cy="1826854"/>
              </a:xfrm>
              <a:prstGeom prst="rect">
                <a:avLst/>
              </a:prstGeom>
              <a:blipFill>
                <a:blip r:embed="rId2"/>
                <a:stretch>
                  <a:fillRect l="-987" t="-2333" r="-43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raz 7">
            <a:extLst>
              <a:ext uri="{FF2B5EF4-FFF2-40B4-BE49-F238E27FC236}">
                <a16:creationId xmlns:a16="http://schemas.microsoft.com/office/drawing/2014/main" id="{113180AB-8B2B-7FAD-7609-C6BDA285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2" y="3058376"/>
            <a:ext cx="5321030" cy="249696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6EA0211C-D926-8813-048C-CE162D4B8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852" y="3267944"/>
            <a:ext cx="5849885" cy="207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03486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D3A3AE-26DA-1332-26ED-7C1C2F3D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304" y="193665"/>
            <a:ext cx="1786388" cy="592259"/>
          </a:xfrm>
        </p:spPr>
        <p:txBody>
          <a:bodyPr>
            <a:normAutofit/>
          </a:bodyPr>
          <a:lstStyle/>
          <a:p>
            <a:r>
              <a:rPr lang="pl-PL" sz="3200" noProof="0" dirty="0"/>
              <a:t>fft_tb.sv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EB24A9-DC4E-1506-38A1-2B5EF9EBD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494" y="880848"/>
            <a:ext cx="5548008" cy="1541339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 err="1"/>
              <a:t>Testbench</a:t>
            </a:r>
            <a:r>
              <a:rPr lang="pl-PL" noProof="0" dirty="0"/>
              <a:t> symulujący działanie całego systemu FFT. Inicjalizuje zegar, wysyła sygnał start, oczekuje na </a:t>
            </a:r>
            <a:r>
              <a:rPr lang="pl-PL" noProof="0" dirty="0" err="1"/>
              <a:t>done</a:t>
            </a:r>
            <a:r>
              <a:rPr lang="pl-PL" noProof="0" dirty="0"/>
              <a:t>. Następnie iteruje po całej pamięci RAM w celu odczytania wyników FFT – zrzuca wszystko do pliku fft_output.txt.</a:t>
            </a:r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3D93F8F9-A5A1-3A7D-9E2A-4D6C78D198B8}"/>
              </a:ext>
            </a:extLst>
          </p:cNvPr>
          <p:cNvSpPr txBox="1">
            <a:spLocks/>
          </p:cNvSpPr>
          <p:nvPr/>
        </p:nvSpPr>
        <p:spPr>
          <a:xfrm>
            <a:off x="5768502" y="880848"/>
            <a:ext cx="5548008" cy="154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pl-PL" noProof="0" dirty="0"/>
              <a:t>Główny kontroler FFT realizujący pełne przetwarzanie 4096-punktowe iteracyjnie. Integruje wszystkie pozostałe moduły w logiczną całość tworząc ich instancje.</a:t>
            </a:r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C1E094BF-2FD3-EA00-21F0-A94C68A7862E}"/>
              </a:ext>
            </a:extLst>
          </p:cNvPr>
          <p:cNvSpPr txBox="1">
            <a:spLocks/>
          </p:cNvSpPr>
          <p:nvPr/>
        </p:nvSpPr>
        <p:spPr>
          <a:xfrm>
            <a:off x="7436114" y="130832"/>
            <a:ext cx="2212784" cy="5922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200" noProof="0" dirty="0"/>
              <a:t>fft_4096.sv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32B26F17-4468-CECB-2E44-352BE06C1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2" y="2227633"/>
            <a:ext cx="2611223" cy="318094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B16CD54-56CC-615D-FE41-7D8228D5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894" y="4212078"/>
            <a:ext cx="4322751" cy="2605880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A159C5BF-DA02-78FE-FB08-75ECAD133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051" y="1984991"/>
            <a:ext cx="5729629" cy="358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62682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BC62C1-B9DD-1E05-E3FF-1A4EEC008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7B465E-EE31-AAD2-D124-D7946FB7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175" y="130831"/>
            <a:ext cx="2548646" cy="592259"/>
          </a:xfrm>
        </p:spPr>
        <p:txBody>
          <a:bodyPr>
            <a:normAutofit/>
          </a:bodyPr>
          <a:lstStyle/>
          <a:p>
            <a:r>
              <a:rPr lang="pl-PL" sz="3200" noProof="0" dirty="0"/>
              <a:t>ram_4096.sv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B0D4DD-410A-281D-AAB8-6136BDEE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494" y="880849"/>
            <a:ext cx="5548008" cy="1473246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/>
              <a:t>Dwuportowa pamięć RAM z niezależnymi portami A i B. Posiada 4096 komórek dla części rzeczywistej i urojonej. Obsługuje zapis/odczyt synchroniczny na zboczu zegara. Jest inicjalizowany zerami.</a:t>
            </a:r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369258F6-9ACB-D039-C0E0-20429205AC1A}"/>
              </a:ext>
            </a:extLst>
          </p:cNvPr>
          <p:cNvSpPr txBox="1">
            <a:spLocks/>
          </p:cNvSpPr>
          <p:nvPr/>
        </p:nvSpPr>
        <p:spPr>
          <a:xfrm>
            <a:off x="5768502" y="880848"/>
            <a:ext cx="5548008" cy="1473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pl-PL" noProof="0" dirty="0"/>
              <a:t>Moduł realizuje podstawową operację FFT – obliczanie tzw. motylka, czyli transformacji dwóch punktów danych przy pomocy współczynnika </a:t>
            </a:r>
            <a:r>
              <a:rPr lang="pl-PL" noProof="0" dirty="0" err="1"/>
              <a:t>twiddle</a:t>
            </a:r>
            <a:r>
              <a:rPr lang="pl-PL" noProof="0" dirty="0"/>
              <a:t>.</a:t>
            </a:r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F8ED27F5-D954-33D8-F9EA-D8A9BD90DF30}"/>
              </a:ext>
            </a:extLst>
          </p:cNvPr>
          <p:cNvSpPr txBox="1">
            <a:spLocks/>
          </p:cNvSpPr>
          <p:nvPr/>
        </p:nvSpPr>
        <p:spPr>
          <a:xfrm>
            <a:off x="7367550" y="125475"/>
            <a:ext cx="2349912" cy="5922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200" noProof="0" dirty="0"/>
              <a:t>butterfly.sv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398C8B8B-BFD4-0379-9582-279E09EF9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" y="2354093"/>
            <a:ext cx="4543045" cy="350880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7121632-61B8-A884-AB63-1FF640FF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2747626"/>
            <a:ext cx="6673174" cy="260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56435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7BFF04-F56F-E083-647D-34E46FAE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73" y="132296"/>
            <a:ext cx="7522205" cy="772376"/>
          </a:xfrm>
        </p:spPr>
        <p:txBody>
          <a:bodyPr>
            <a:normAutofit fontScale="90000"/>
          </a:bodyPr>
          <a:lstStyle/>
          <a:p>
            <a:r>
              <a:rPr lang="pl-PL" noProof="0" dirty="0"/>
              <a:t>Wynik działania FFT na FPGA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D7E010-ABCB-631F-C108-3CD159EE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11" y="1138137"/>
            <a:ext cx="3465771" cy="1099226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/>
              <a:t>Wynikiem uruchomienia kodu </a:t>
            </a:r>
            <a:r>
              <a:rPr lang="pl-PL" noProof="0" dirty="0" err="1"/>
              <a:t>Verilog</a:t>
            </a:r>
            <a:r>
              <a:rPr lang="pl-PL" noProof="0" dirty="0"/>
              <a:t> przy użyciu </a:t>
            </a:r>
            <a:r>
              <a:rPr lang="pl-PL" noProof="0" dirty="0" err="1"/>
              <a:t>testbench’a</a:t>
            </a:r>
            <a:r>
              <a:rPr lang="pl-PL" noProof="0" dirty="0"/>
              <a:t> jest plik tekstowy.</a:t>
            </a:r>
          </a:p>
        </p:txBody>
      </p:sp>
      <p:pic>
        <p:nvPicPr>
          <p:cNvPr id="5" name="Obraz 4" descr="Obraz zawierający tekst, zrzut ekranu, czarne, Czcionka&#10;&#10;Zawartość wygenerowana przez AI może być niepoprawna.">
            <a:extLst>
              <a:ext uri="{FF2B5EF4-FFF2-40B4-BE49-F238E27FC236}">
                <a16:creationId xmlns:a16="http://schemas.microsoft.com/office/drawing/2014/main" id="{AEE3E52F-7C09-002C-F1CE-B9E8D1C36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71" y="2338489"/>
            <a:ext cx="2381250" cy="356235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5B90A4A9-2D96-E566-EA14-FC2C0F790324}"/>
              </a:ext>
            </a:extLst>
          </p:cNvPr>
          <p:cNvSpPr txBox="1"/>
          <p:nvPr/>
        </p:nvSpPr>
        <p:spPr>
          <a:xfrm>
            <a:off x="5885234" y="1037034"/>
            <a:ext cx="4708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noProof="0" dirty="0"/>
              <a:t>Po przetworzeniu wyników z pliku tekstowego oraz wygenerowaniu widma przy użyciu programu napisanego w języku </a:t>
            </a:r>
            <a:r>
              <a:rPr lang="pl-PL" noProof="0" dirty="0" err="1"/>
              <a:t>Python</a:t>
            </a:r>
            <a:r>
              <a:rPr lang="pl-PL" noProof="0" dirty="0"/>
              <a:t>. </a:t>
            </a:r>
          </a:p>
        </p:txBody>
      </p:sp>
      <p:pic>
        <p:nvPicPr>
          <p:cNvPr id="8" name="Obraz 7" descr="Obraz zawierający zrzut ekranu, Wykres&#10;&#10;Zawartość wygenerowana przez AI może być niepoprawna.">
            <a:extLst>
              <a:ext uri="{FF2B5EF4-FFF2-40B4-BE49-F238E27FC236}">
                <a16:creationId xmlns:a16="http://schemas.microsoft.com/office/drawing/2014/main" id="{4713BD60-06C2-84A5-70E7-F6531689B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73" y="2411749"/>
            <a:ext cx="62960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42953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8A1C9F-34D4-D436-3E19-12DA7247B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26" y="184825"/>
            <a:ext cx="5749046" cy="1245141"/>
          </a:xfrm>
        </p:spPr>
        <p:txBody>
          <a:bodyPr>
            <a:normAutofit fontScale="90000"/>
          </a:bodyPr>
          <a:lstStyle/>
          <a:p>
            <a:r>
              <a:rPr lang="pl-PL" noProof="0" dirty="0"/>
              <a:t>Podsumowanie</a:t>
            </a:r>
            <a:br>
              <a:rPr lang="pl-PL" noProof="0" dirty="0"/>
            </a:br>
            <a:r>
              <a:rPr lang="pl-PL" noProof="0" dirty="0"/>
              <a:t>Czego się nauczyliśmy?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62AE78-0A0B-AFD2-CBF5-A7BC0B04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6" y="1585609"/>
            <a:ext cx="9341666" cy="4594528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/>
              <a:t>Przede wszystkim innego podejścia do projektowania. W przypadku zwykłych języków programowania wszystkie operacje wykonują się sekwencyjnie jedna po drugiej, natomiast w przypadku </a:t>
            </a:r>
            <a:r>
              <a:rPr lang="pl-PL" noProof="0" dirty="0" err="1"/>
              <a:t>Veriloga</a:t>
            </a:r>
            <a:r>
              <a:rPr lang="pl-PL" noProof="0" dirty="0"/>
              <a:t> i FPGA należy mieć na uwadze, że wszystko wykonuje się w tym samym czasie – kilka operacji może mieć miejsce jednocześnie (jeden cykl zegara).</a:t>
            </a:r>
          </a:p>
          <a:p>
            <a:pPr marL="0" indent="0">
              <a:buNone/>
            </a:pPr>
            <a:r>
              <a:rPr lang="pl-PL" noProof="0" dirty="0"/>
              <a:t>Dodatkowo zyskaliśmy umiejętności z dziedziny przetwarzania sygnałów – zarówno sprzętowo jak i programowo.</a:t>
            </a:r>
          </a:p>
          <a:p>
            <a:pPr marL="0" indent="0">
              <a:buNone/>
            </a:pPr>
            <a:r>
              <a:rPr lang="pl-PL" noProof="0" dirty="0"/>
              <a:t>Ponadto rozwinęliśmy umiejętność zarządzania projektem oraz rozdzielania zadań między członków grupy projektowej.</a:t>
            </a:r>
          </a:p>
        </p:txBody>
      </p:sp>
    </p:spTree>
    <p:extLst>
      <p:ext uri="{BB962C8B-B14F-4D97-AF65-F5344CB8AC3E}">
        <p14:creationId xmlns:p14="http://schemas.microsoft.com/office/powerpoint/2010/main" val="592593651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B1F1-BC38-B58A-5359-83C8F09F3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872" y="1497622"/>
            <a:ext cx="9418320" cy="3862083"/>
          </a:xfrm>
        </p:spPr>
        <p:txBody>
          <a:bodyPr anchor="ctr">
            <a:normAutofit/>
          </a:bodyPr>
          <a:lstStyle/>
          <a:p>
            <a:pPr algn="ctr"/>
            <a:r>
              <a:rPr lang="pl-PL" sz="6000" dirty="0"/>
              <a:t>Dziękujemy za uwagę.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8ECA2-60A0-4D39-817D-F1E982ED7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1500" y="5097592"/>
            <a:ext cx="59639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067044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Widok">
  <a:themeElements>
    <a:clrScheme name="Widok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Wid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idok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TM03457515[[fn=Widok]]</Template>
  <TotalTime>307</TotalTime>
  <Words>580</Words>
  <Application>Microsoft Office PowerPoint</Application>
  <PresentationFormat>Panoramiczny</PresentationFormat>
  <Paragraphs>44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Century Schoolbook</vt:lpstr>
      <vt:lpstr>Wingdings 2</vt:lpstr>
      <vt:lpstr>Widok</vt:lpstr>
      <vt:lpstr>Systemy Cyfrowe -  Projekt  Podsumowanie</vt:lpstr>
      <vt:lpstr>Cel projektu</vt:lpstr>
      <vt:lpstr>Prototypy</vt:lpstr>
      <vt:lpstr>Finalna implementacja – Python</vt:lpstr>
      <vt:lpstr>Przejście na SystemVerilog (FPGA)</vt:lpstr>
      <vt:lpstr>rom_input.sv</vt:lpstr>
      <vt:lpstr>fft_tb.sv</vt:lpstr>
      <vt:lpstr>ram_4096.sv</vt:lpstr>
      <vt:lpstr>Wynik działania FFT na FPGA</vt:lpstr>
      <vt:lpstr>Podsumowanie Czego się nauczyliśmy?</vt:lpstr>
      <vt:lpstr>Dziękujemy za uwagę.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Celiński</dc:creator>
  <cp:lastModifiedBy>Jakub Celiński</cp:lastModifiedBy>
  <cp:revision>18</cp:revision>
  <dcterms:created xsi:type="dcterms:W3CDTF">2025-06-20T12:22:49Z</dcterms:created>
  <dcterms:modified xsi:type="dcterms:W3CDTF">2025-06-22T12:02:12Z</dcterms:modified>
</cp:coreProperties>
</file>